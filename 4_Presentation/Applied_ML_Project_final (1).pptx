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3C6FE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Linear SVM</c:v>
                </c:pt>
                <c:pt idx="2">
                  <c:v>Random
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0.76100000000000001</c:v>
                </c:pt>
                <c:pt idx="1">
                  <c:v>0.747</c:v>
                </c:pt>
                <c:pt idx="2">
                  <c:v>0.53600000000000003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C1-4D17-9F33-09D07806AD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Linear SVM</c:v>
                </c:pt>
                <c:pt idx="2">
                  <c:v>Random
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0.64700000000000002</c:v>
                </c:pt>
                <c:pt idx="1">
                  <c:v>0.63600000000000001</c:v>
                </c:pt>
                <c:pt idx="2">
                  <c:v>0.50600000000000001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C1-4D17-9F33-09D07806AD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5B61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820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— CLASS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ifo Business Climate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German News Text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text-classification pipeline that links German news articles to monthly shifts in Germany's leading business-sentiment indicator.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4,603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2018–2022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ifo Index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signal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777240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760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CADCFC"/>
                </a:solidFill>
                <a:latin typeface="Calibri"/>
              </a:rPr>
              <a:t>Mikhail Melnichenko  ·  Yusuf Mustafa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tone of everyday economic news anticipate where business sentiment is headed?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77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content of German economic news predict whether the ifo Business Climate Index will rise or fall next month?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77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5,600+ raw newspaper articles (2018–2022) from monthly archives, paired with the official ifo Business Climate survey.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3774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it as binary text classification: read an article, predict the direction (up/down) of the next ifo release.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News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28 raw archive files to one clean, de-duplicated DataFrame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C6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Parse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28 monthly TXT/RTF files; split on “End of Document” to isolate individual articles.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971800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93008" y="1737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21608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C6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721608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Fields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721608" y="27889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Regex-extract publication date and article body; strip footers and normalize whitespace.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297180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45936" y="1737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74536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C6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574536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De-duplicate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74536" y="27889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first 2,000 characters per article to drop near-identical reprints.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2971800"/>
            <a:ext cx="201168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98864" y="1737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427464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C6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9427464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&amp; Label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9427464" y="27889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chronologically and tag each article with its publication month for merging.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8006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914400" y="4983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parquet table of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4,603 articles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(5,600 raw → 997 duplicates removed), ready to merge with ifo data.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Prediction Target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each article to the next ifo Business Climate release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309360" cy="40233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933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ifo Business Climate Index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Germany's flagship monthly survey of business sentiment (climate, situation, expectations).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5760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429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 if next month's climate score rises vs. this month, else 0.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88620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article is matched to the ifo release whose ~1-month window contains its publish date, then labeled with that release's target. Rows without a valid target are dropped.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23760" y="173736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52360" y="18288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4,603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235440" y="1828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articles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23760" y="315468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5236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38.6%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235440" y="32461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(climate rose)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223760" y="45720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52360" y="46634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92–104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235440" y="4663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 index range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Article-level text classification with class-balanced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93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Extraction: TF-IDF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10,000 features, uni- and bi-grams, min document frequency 5.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chronological train-test split (no shuffling, to respect time order).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with class_weight = “balanced” in each classifier.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4480560"/>
            <a:ext cx="466344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617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Classifiers Compared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4937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·  Linear SVM  ·  Random Forest (500 trees)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0" y="24688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2A3A7A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24688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article text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072384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00800" y="333756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2A3A7A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33375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941064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400800" y="420624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2A3A7A"/>
          </a:solidFill>
          <a:ln/>
        </p:spPr>
      </p:sp>
      <p:sp>
        <p:nvSpPr>
          <p:cNvPr id="21" name="Text 16"/>
          <p:cNvSpPr/>
          <p:nvPr/>
        </p:nvSpPr>
        <p:spPr>
          <a:xfrm>
            <a:off x="6629400" y="42062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809744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400800" y="507492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2A3A7A"/>
          </a:solidFill>
          <a:ln/>
        </p:spPr>
      </p:sp>
      <p:sp>
        <p:nvSpPr>
          <p:cNvPr id="24" name="Text 18"/>
          <p:cNvSpPr/>
          <p:nvPr/>
        </p:nvSpPr>
        <p:spPr>
          <a:xfrm>
            <a:off x="6629400" y="50749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 prediction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leads after balancing for class imbalance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492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4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0.647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418320" y="1783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Regression)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315468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3524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418320" y="32461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Regression)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46177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4617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majority-class guess ≈ 61% accuracy — the lift from modeling is real but modest.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1E2E"/>
                </a:solidFill>
                <a:latin typeface="Cambria"/>
              </a:rPr>
              <a:t>Confusion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B6178"/>
                </a:solidFill>
                <a:latin typeface="Calibri"/>
              </a:rPr>
              <a:t>Predicted vs. actual direction across all three classifiers</a:t>
            </a:r>
          </a:p>
        </p:txBody>
      </p:sp>
      <p:pic>
        <p:nvPicPr>
          <p:cNvPr id="4" name="Picture 3" descr="1783005520406_WhatsApp_Image_2026-07-02_at_16_55_5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3657600" cy="5029200"/>
          </a:xfrm>
          <a:prstGeom prst="rect">
            <a:avLst/>
          </a:prstGeom>
        </p:spPr>
      </p:pic>
      <p:pic>
        <p:nvPicPr>
          <p:cNvPr id="5" name="Picture 4" descr="1783005528378_WhatsApp_Image_2026-07-02_at_16_56_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5029200"/>
          </a:xfrm>
          <a:prstGeom prst="rect">
            <a:avLst/>
          </a:prstGeom>
        </p:spPr>
      </p:pic>
      <p:pic>
        <p:nvPicPr>
          <p:cNvPr id="6" name="Picture 5" descr="1783005555669_WhatsApp_Image_2026-07-02_at_16_56_1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25880"/>
            <a:ext cx="3657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A3A7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9047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44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works end-to-end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25880" y="1719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archives → cleaned, de-duplicated, labeled dataset → trained classifiers, all reproducible in one notebook.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2A3A7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5420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3957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Modest but real signal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25880" y="27706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reaches 64.7% accuracy / F1 = 0.761 after class balancing — a few points above the naive majority guess.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2A3A7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59359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4472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was the bottleneck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25880" y="38221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class_weight = “balanced” shifted the leaderboard — Random Forest's earlier lead was largely a majority-class artifact.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572000"/>
            <a:ext cx="10881360" cy="18288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0080" y="51663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further with resampling or threshold tuning.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predictions at the monthly level instead of per-article.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simple economic baselines (e.g., lagged ifo value alone).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Widescreen</PresentationFormat>
  <Paragraphs>90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ifo Business Climate from German News Text</dc:title>
  <dc:subject>PptxGenJS Presentation</dc:subject>
  <dc:creator>Yusuf</dc:creator>
  <cp:lastModifiedBy>Yusuf Mustafa</cp:lastModifiedBy>
  <cp:revision>2</cp:revision>
  <dcterms:created xsi:type="dcterms:W3CDTF">2026-06-30T11:42:40Z</dcterms:created>
  <dcterms:modified xsi:type="dcterms:W3CDTF">2026-07-02T15:35:55Z</dcterms:modified>
</cp:coreProperties>
</file>